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8288000" cy="10287000"/>
  <p:notesSz cx="6858000" cy="9144000"/>
  <p:embeddedFontLst>
    <p:embeddedFont>
      <p:font typeface="Cambria" panose="02040503050406030204" pitchFamily="18" charset="0"/>
      <p:regular r:id="rId27"/>
      <p:bold r:id="rId28"/>
      <p:italic r:id="rId29"/>
      <p:boldItalic r:id="rId30"/>
    </p:embeddedFont>
    <p:embeddedFont>
      <p:font typeface="Canva Sans" panose="020B0604020202020204" charset="0"/>
      <p:regular r:id="rId31"/>
    </p:embeddedFont>
    <p:embeddedFont>
      <p:font typeface="TT Mussels Stencil" panose="020B0604020202020204" charset="0"/>
      <p:regular r:id="rId32"/>
    </p:embeddedFont>
    <p:embeddedFont>
      <p:font typeface="TT Mussels Stencil Bold" panose="020B0604020202020204" charset="0"/>
      <p:regular r:id="rId33"/>
    </p:embeddedFont>
    <p:embeddedFont>
      <p:font typeface="TT Tricks Stencil" panose="020B0604020202020204" charset="0"/>
      <p:regular r:id="rId34"/>
    </p:embeddedFont>
    <p:embeddedFont>
      <p:font typeface="TT Tricks Stencil Bold" panose="020B0604020202020204" charset="0"/>
      <p:regular r:id="rId35"/>
    </p:embeddedFont>
    <p:embeddedFont>
      <p:font typeface="TT Tricks Stencil Bold Italics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699" y="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microsoft.com/office/2007/relationships/hdphoto" Target="../media/hdphoto3.wdp"/><Relationship Id="rId4" Type="http://schemas.openxmlformats.org/officeDocument/2006/relationships/image" Target="../media/image5.png"/><Relationship Id="rId9" Type="http://schemas.microsoft.com/office/2007/relationships/hdphoto" Target="../media/hdphoto5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7" Type="http://schemas.microsoft.com/office/2007/relationships/hdphoto" Target="../media/hdphoto14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microsoft.com/office/2007/relationships/hdphoto" Target="../media/hdphoto13.wdp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7" Type="http://schemas.microsoft.com/office/2007/relationships/hdphoto" Target="../media/hdphoto18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microsoft.com/office/2007/relationships/hdphoto" Target="../media/hdphoto17.wdp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8.wdp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36020" y="1996600"/>
            <a:ext cx="6667500" cy="1452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58"/>
              </a:lnSpc>
            </a:pPr>
            <a:r>
              <a:rPr lang="en-US" sz="4400" b="1" dirty="0">
                <a:solidFill>
                  <a:srgbClr val="C3D1E3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CAPSTONE PROJECT REPORT 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5162" y="3759985"/>
            <a:ext cx="8378838" cy="2089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sz="3200" b="1" spc="-251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"/>
                <a:sym typeface="TT Tricks Stencil Bold"/>
              </a:rPr>
              <a:t>Instacart Online Grocery Delivery &amp; Pickup Service </a:t>
            </a:r>
          </a:p>
          <a:p>
            <a:pPr algn="just">
              <a:lnSpc>
                <a:spcPts val="10968"/>
              </a:lnSpc>
            </a:pPr>
            <a:endParaRPr lang="en-US" sz="4750" b="1" spc="-251" dirty="0">
              <a:solidFill>
                <a:srgbClr val="668B2A"/>
              </a:solidFill>
              <a:latin typeface="TT Tricks Stencil Bold"/>
              <a:ea typeface="TT Tricks Stencil Bold"/>
              <a:cs typeface="TT Tricks Stencil Bold"/>
              <a:sym typeface="TT Tricks Stencil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83153" y="0"/>
            <a:ext cx="6021811" cy="807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91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BIMBOLA ADEBAYO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40FA86-0902-6147-050D-2F6D8757B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639" y="109839"/>
            <a:ext cx="2301961" cy="1528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B6ACDA-2192-289B-07D8-C4CE3E448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1" y="90212"/>
            <a:ext cx="9418782" cy="10196787"/>
          </a:xfrm>
          <a:prstGeom prst="rect">
            <a:avLst/>
          </a:prstGeom>
        </p:spPr>
      </p:pic>
      <p:sp>
        <p:nvSpPr>
          <p:cNvPr id="12" name="AutoShape 5"/>
          <p:cNvSpPr/>
          <p:nvPr/>
        </p:nvSpPr>
        <p:spPr>
          <a:xfrm>
            <a:off x="765162" y="5372100"/>
            <a:ext cx="7476476" cy="0"/>
          </a:xfrm>
          <a:prstGeom prst="line">
            <a:avLst/>
          </a:prstGeom>
          <a:ln w="95250" cap="flat">
            <a:solidFill>
              <a:srgbClr val="81936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4711" y="528175"/>
            <a:ext cx="9882406" cy="116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1"/>
              </a:lnSpc>
            </a:pPr>
            <a:r>
              <a:rPr lang="en-US" sz="4800" b="1" dirty="0">
                <a:solidFill>
                  <a:srgbClr val="72B724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PURPOSE AND SCOPE OF THE PROJECT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n-GB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6" name="AutoShape 6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127338" y="5418945"/>
            <a:ext cx="2264791" cy="427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3"/>
              </a:lnSpc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"/>
                <a:sym typeface="TT Tricks Stencil Bold"/>
              </a:rPr>
              <a:t>Project aim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26285" y="6351160"/>
            <a:ext cx="8458200" cy="35821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26159" lvl="1" indent="-213080" algn="l">
              <a:lnSpc>
                <a:spcPts val="276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Analyzing order, product, aisle, and department data</a:t>
            </a:r>
          </a:p>
          <a:p>
            <a:pPr marL="426159" lvl="1" indent="-213080" algn="l">
              <a:lnSpc>
                <a:spcPts val="276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Evaluating key metrics such as total revenue, order volume, and customer activity</a:t>
            </a:r>
          </a:p>
          <a:p>
            <a:pPr marL="426159" lvl="1" indent="-213080" algn="l">
              <a:lnSpc>
                <a:spcPts val="276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Identifying best- and worst-performing products based on sales and profitability</a:t>
            </a:r>
          </a:p>
          <a:p>
            <a:pPr marL="426159" lvl="1" indent="-213080" algn="l">
              <a:lnSpc>
                <a:spcPts val="276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Examining customer purchasing patterns, including peak shopping times</a:t>
            </a:r>
          </a:p>
          <a:p>
            <a:pPr marL="426159" lvl="1" indent="-213080" algn="l">
              <a:lnSpc>
                <a:spcPts val="276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Assessing demand versus profitability across aisles and departments</a:t>
            </a:r>
          </a:p>
          <a:p>
            <a:pPr algn="l">
              <a:lnSpc>
                <a:spcPts val="2903"/>
              </a:lnSpc>
            </a:pPr>
            <a:endParaRPr lang="en-US" sz="1973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84711" y="2240913"/>
            <a:ext cx="9385458" cy="2634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1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The purpose of this project is to analyze Instacart’s operational and sales data to generate actionable insights that support data-driven decision-making. By developing an interactive dashboard, the project aims to help management understand customer behavior, product performance, and overall business trends to improve efficiency and profitability.</a:t>
            </a:r>
          </a:p>
          <a:p>
            <a:pPr algn="l">
              <a:lnSpc>
                <a:spcPts val="105"/>
              </a:lnSpc>
              <a:spcBef>
                <a:spcPct val="0"/>
              </a:spcBef>
            </a:pPr>
            <a:endParaRPr lang="en-US" sz="2372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3811D2-29C5-E6BF-58F4-6FBD964D2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106" y="1257299"/>
            <a:ext cx="7376894" cy="88391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6260" y="1511088"/>
            <a:ext cx="11777245" cy="1866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Instacart is a leading online grocery delivery and pickup service in North America that partners with retailers to offer same-day delivery. The platform connects customers with personal shoppers who handpick items from local stores</a:t>
            </a:r>
            <a:r>
              <a:rPr lang="en-US" sz="2673" dirty="0">
                <a:solidFill>
                  <a:srgbClr val="FFFFFF"/>
                </a:solidFill>
                <a:latin typeface="TT Tricks Stencil"/>
                <a:ea typeface="TT Tricks Stencil"/>
                <a:cs typeface="TT Tricks Stencil"/>
                <a:sym typeface="TT Tricks Stencil"/>
              </a:rPr>
              <a:t>.</a:t>
            </a:r>
          </a:p>
          <a:p>
            <a:pPr algn="l">
              <a:lnSpc>
                <a:spcPts val="3603"/>
              </a:lnSpc>
            </a:pPr>
            <a:endParaRPr lang="en-US" sz="2673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26260" y="566275"/>
            <a:ext cx="9899726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1"/>
              </a:lnSpc>
            </a:pPr>
            <a:r>
              <a:rPr lang="en-US" sz="6600" b="1" dirty="0">
                <a:solidFill>
                  <a:srgbClr val="72B724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BUSINESS OVERVIEW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CA451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5791200" y="4540431"/>
            <a:ext cx="7854082" cy="4015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41456" lvl="1" indent="-270728" algn="l">
              <a:lnSpc>
                <a:spcPts val="3511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"/>
                <a:sym typeface="TT Mussels Stencil"/>
              </a:rPr>
              <a:t>Management lacks a consolidated view of Instacart’s operational and sales data to make informed decisions.</a:t>
            </a:r>
          </a:p>
          <a:p>
            <a:pPr marL="541456" lvl="1" indent="-270728" algn="l">
              <a:lnSpc>
                <a:spcPts val="3511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"/>
                <a:sym typeface="TT Mussels Stencil"/>
              </a:rPr>
              <a:t>Uncertainty exists around product performance, peak demand periods, and underperforming aisles or departments.</a:t>
            </a:r>
          </a:p>
          <a:p>
            <a:pPr marL="541456" lvl="1" indent="-270728" algn="l">
              <a:lnSpc>
                <a:spcPts val="3511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"/>
                <a:sym typeface="TT Mussels Stencil"/>
              </a:rPr>
              <a:t>Limited insights hinder effective inventory planning, staffing allocation, and strategies for growth and profitability.</a:t>
            </a:r>
          </a:p>
          <a:p>
            <a:pPr algn="l">
              <a:lnSpc>
                <a:spcPts val="3511"/>
              </a:lnSpc>
            </a:pPr>
            <a:endParaRPr lang="en-US" sz="2507" dirty="0">
              <a:solidFill>
                <a:srgbClr val="FFFFFF"/>
              </a:solidFill>
              <a:latin typeface="TT Mussels Stencil"/>
              <a:ea typeface="TT Mussels Stencil"/>
              <a:cs typeface="TT Mussels Stencil"/>
              <a:sym typeface="TT Mussels Stencil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096000" y="3505292"/>
            <a:ext cx="4244746" cy="105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1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Problem Statement</a:t>
            </a:r>
            <a:r>
              <a:rPr lang="en-US" sz="3107" b="1" dirty="0">
                <a:solidFill>
                  <a:srgbClr val="FFFFFF"/>
                </a:solidFill>
                <a:latin typeface="TT Mussels Stencil Bold"/>
                <a:ea typeface="TT Mussels Stencil Bold"/>
                <a:cs typeface="TT Mussels Stencil Bold"/>
                <a:sym typeface="TT Mussels Stencil Bold"/>
              </a:rPr>
              <a:t>:</a:t>
            </a:r>
          </a:p>
          <a:p>
            <a:pPr algn="l">
              <a:lnSpc>
                <a:spcPts val="4071"/>
              </a:lnSpc>
              <a:spcBef>
                <a:spcPct val="0"/>
              </a:spcBef>
            </a:pPr>
            <a:endParaRPr lang="en-US" sz="3107" b="1" dirty="0">
              <a:solidFill>
                <a:srgbClr val="FFFFFF"/>
              </a:solidFill>
              <a:latin typeface="TT Mussels Stencil Bold"/>
              <a:ea typeface="TT Mussels Stencil Bold"/>
              <a:cs typeface="TT Mussels Stencil Bold"/>
              <a:sym typeface="TT Mussels Stencil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7604" y="1778576"/>
            <a:ext cx="11777245" cy="63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3"/>
              </a:lnSpc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"/>
                <a:sym typeface="TT Tricks Stencil Bold"/>
              </a:rPr>
              <a:t>Analysis shows that management should</a:t>
            </a:r>
            <a:r>
              <a:rPr lang="en-US" sz="3673" b="1" dirty="0">
                <a:solidFill>
                  <a:srgbClr val="FFFFFF"/>
                </a:solidFill>
                <a:latin typeface="TT Tricks Stencil Bold"/>
                <a:ea typeface="TT Tricks Stencil Bold"/>
                <a:cs typeface="TT Tricks Stencil Bold"/>
                <a:sym typeface="TT Tricks Stencil Bold"/>
              </a:rPr>
              <a:t>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0722" y="697716"/>
            <a:ext cx="10101050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99"/>
              </a:lnSpc>
            </a:pPr>
            <a:r>
              <a:rPr lang="en-US" sz="6600" b="1" dirty="0">
                <a:solidFill>
                  <a:srgbClr val="72B724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EXECUTIVE SUMMARY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E0B02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144248" y="3466554"/>
            <a:ext cx="10485114" cy="514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1102" lvl="1" indent="-240551" algn="l">
              <a:lnSpc>
                <a:spcPts val="311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Use insights to optimize product assortment, focusing on high-demand and high-profit items</a:t>
            </a:r>
          </a:p>
          <a:p>
            <a:pPr marL="481102" lvl="1" indent="-240551" algn="l">
              <a:lnSpc>
                <a:spcPts val="311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Improve inventory planning to reduce stockouts and overstocking</a:t>
            </a:r>
          </a:p>
          <a:p>
            <a:pPr marL="481102" lvl="1" indent="-240551" algn="l">
              <a:lnSpc>
                <a:spcPts val="311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Align staffing with demand by allocating more resources during peak order hours</a:t>
            </a:r>
          </a:p>
          <a:p>
            <a:pPr marL="481102" lvl="1" indent="-240551" algn="l">
              <a:lnSpc>
                <a:spcPts val="311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Enhance customer experience through faster delivery and better product availability</a:t>
            </a:r>
          </a:p>
          <a:p>
            <a:pPr marL="481102" lvl="1" indent="-240551" algn="l">
              <a:lnSpc>
                <a:spcPts val="311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Identify underperforming areas and take action to improve profitability across aisles and departments</a:t>
            </a:r>
          </a:p>
          <a:p>
            <a:pPr marL="481102" lvl="1" indent="-240551" algn="l">
              <a:lnSpc>
                <a:spcPts val="311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Leverage data to support strategic decision-making and long-term business growth</a:t>
            </a:r>
          </a:p>
          <a:p>
            <a:pPr algn="l">
              <a:lnSpc>
                <a:spcPts val="3119"/>
              </a:lnSpc>
            </a:pPr>
            <a:endParaRPr lang="en-US" sz="2228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  <a:p>
            <a:pPr algn="l">
              <a:lnSpc>
                <a:spcPts val="3119"/>
              </a:lnSpc>
            </a:pPr>
            <a:endParaRPr lang="en-US" sz="2228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0722" y="340797"/>
            <a:ext cx="9938977" cy="200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4800" b="1" dirty="0">
                <a:solidFill>
                  <a:srgbClr val="72B724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KEY PERFORMANCE INDICATORS</a:t>
            </a:r>
          </a:p>
          <a:p>
            <a:pPr algn="ctr">
              <a:lnSpc>
                <a:spcPts val="4350"/>
              </a:lnSpc>
            </a:pPr>
            <a:r>
              <a:rPr lang="en-US" sz="4800" b="1" dirty="0">
                <a:solidFill>
                  <a:srgbClr val="72B724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 KPIs</a:t>
            </a:r>
          </a:p>
          <a:p>
            <a:pPr algn="l">
              <a:lnSpc>
                <a:spcPts val="6555"/>
              </a:lnSpc>
            </a:pPr>
            <a:r>
              <a:rPr lang="en-US" sz="6758" b="1" dirty="0">
                <a:solidFill>
                  <a:srgbClr val="72B724"/>
                </a:solidFill>
                <a:latin typeface="TT Mussels Stencil Bold"/>
                <a:ea typeface="TT Mussels Stencil Bold"/>
                <a:cs typeface="TT Mussels Stencil Bold"/>
                <a:sym typeface="TT Mussels Stencil Bold"/>
              </a:rPr>
              <a:t>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11506200" y="1361694"/>
            <a:ext cx="6096000" cy="4157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39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Total Revenue: $158.37M</a:t>
            </a:r>
          </a:p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Total Orders: 1M</a:t>
            </a:r>
          </a:p>
          <a:p>
            <a:pPr algn="l">
              <a:lnSpc>
                <a:spcPts val="7139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Total Customers: 63K</a:t>
            </a:r>
          </a:p>
          <a:p>
            <a:pPr algn="l">
              <a:lnSpc>
                <a:spcPts val="7139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Total Average Value: $151.03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50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4570E4-0D46-7FC2-1885-DF75E801D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073" y="2857500"/>
            <a:ext cx="3352800" cy="20025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074DE1-7CDF-0705-9E8A-6AA2FAC608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85976" y="2883296"/>
            <a:ext cx="3257560" cy="21336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1E963F-A8BA-DD4C-98F1-E87603B83E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4218" y="5753100"/>
            <a:ext cx="3348182" cy="21669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8EB3241-C7D6-307F-8561-49E3A7AA68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85976" y="5753100"/>
            <a:ext cx="3257560" cy="21669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8C973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62799" y="339965"/>
            <a:ext cx="9696632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63"/>
              </a:lnSpc>
            </a:pPr>
            <a:r>
              <a:rPr lang="en-US" sz="8000" b="1" dirty="0">
                <a:solidFill>
                  <a:srgbClr val="72B724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DASHBOARD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613CB4-268A-D36E-458C-1B160BA45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000" y="1365887"/>
            <a:ext cx="16840200" cy="85811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6399" y="1638300"/>
            <a:ext cx="9501019" cy="560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7848" lvl="1" algn="l">
              <a:lnSpc>
                <a:spcPts val="3603"/>
              </a:lnSpc>
            </a:pPr>
            <a:endParaRPr lang="en-US" sz="28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marL="277848" lvl="1" algn="l">
              <a:lnSpc>
                <a:spcPts val="3603"/>
              </a:lnSpc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High Demand but Declining Profit</a:t>
            </a:r>
          </a:p>
          <a:p>
            <a:pPr marL="555696" lvl="1" indent="-277848" algn="l">
              <a:lnSpc>
                <a:spcPts val="360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Categories like Vitamins Supplements and Yogurt have the highest order volumes</a:t>
            </a:r>
          </a:p>
          <a:p>
            <a:pPr marL="555696" lvl="1" indent="-277848" algn="l">
              <a:lnSpc>
                <a:spcPts val="360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However, profit is already starting to decline after these top items</a:t>
            </a:r>
          </a:p>
          <a:p>
            <a:pPr marL="555696" lvl="1" indent="-277848" algn="l">
              <a:lnSpc>
                <a:spcPts val="360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High sales ≠ high profitability</a:t>
            </a:r>
          </a:p>
          <a:p>
            <a:pPr algn="l">
              <a:lnSpc>
                <a:spcPts val="4303"/>
              </a:lnSpc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    </a:t>
            </a: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Demand–Profit Mismatch</a:t>
            </a:r>
          </a:p>
          <a:p>
            <a:pPr marL="555696" lvl="1" indent="-277848" algn="l">
              <a:lnSpc>
                <a:spcPts val="360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As you move right (e.g., White Wine, Trash Bags ):</a:t>
            </a:r>
          </a:p>
          <a:p>
            <a:pPr marL="555696" lvl="1" indent="-277848" algn="l">
              <a:lnSpc>
                <a:spcPts val="360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Orders remain relatively stable</a:t>
            </a:r>
          </a:p>
          <a:p>
            <a:pPr marL="555696" lvl="1" indent="-277848" algn="l">
              <a:lnSpc>
                <a:spcPts val="360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Profit drops significantly</a:t>
            </a:r>
          </a:p>
          <a:p>
            <a:pPr algn="l">
              <a:lnSpc>
                <a:spcPts val="3603"/>
              </a:lnSpc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    These are also high-demand but low-profit categories</a:t>
            </a:r>
          </a:p>
          <a:p>
            <a:pPr algn="l">
              <a:lnSpc>
                <a:spcPts val="3603"/>
              </a:lnSpc>
            </a:pPr>
            <a:endParaRPr lang="en-US" sz="2573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8C973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771017" y="86663"/>
            <a:ext cx="9811446" cy="89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254"/>
              </a:lnSpc>
            </a:pPr>
            <a:r>
              <a:rPr lang="en-US" sz="3200" b="1" dirty="0">
                <a:solidFill>
                  <a:srgbClr val="72B724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AISLES  BY CUSTOMER DEMAND &amp; PROFITABILITY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98C66A-C691-DD03-7640-FDB946A77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9988" y="1257301"/>
            <a:ext cx="7021811" cy="89153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  <a:solidFill>
            <a:schemeClr val="accent3">
              <a:lumMod val="75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653802" y="1405656"/>
            <a:ext cx="7880598" cy="5359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80"/>
              </a:lnSpc>
            </a:pPr>
            <a:r>
              <a:rPr lang="en-US" sz="2557" b="1" dirty="0">
                <a:solidFill>
                  <a:srgbClr val="FFFFFF"/>
                </a:solidFill>
                <a:latin typeface="TT Tricks Stencil Bold"/>
                <a:ea typeface="TT Tricks Stencil Bold"/>
                <a:cs typeface="TT Tricks Stencil Bold"/>
                <a:sym typeface="TT Tricks Stencil Bold"/>
              </a:rPr>
              <a:t>  </a:t>
            </a:r>
          </a:p>
          <a:p>
            <a:pPr algn="l">
              <a:lnSpc>
                <a:spcPts val="3580"/>
              </a:lnSpc>
            </a:pPr>
            <a:r>
              <a:rPr lang="en-US" sz="36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"/>
                <a:sym typeface="TT Tricks Stencil Bold"/>
              </a:rPr>
              <a:t>Low Profit Categories</a:t>
            </a:r>
          </a:p>
          <a:p>
            <a:pPr algn="l">
              <a:lnSpc>
                <a:spcPts val="3580"/>
              </a:lnSpc>
            </a:pPr>
            <a:endParaRPr lang="en-US" sz="2557" b="1" dirty="0">
              <a:solidFill>
                <a:srgbClr val="FFFFFF"/>
              </a:solidFill>
              <a:latin typeface="TT Tricks Stencil Bold"/>
              <a:ea typeface="TT Tricks Stencil Bold"/>
              <a:cs typeface="TT Tricks Stencil Bold"/>
              <a:sym typeface="TT Tricks Stencil Bold"/>
            </a:endParaRPr>
          </a:p>
          <a:p>
            <a:pPr algn="l">
              <a:lnSpc>
                <a:spcPts val="3580"/>
              </a:lnSpc>
            </a:pPr>
            <a:r>
              <a:rPr lang="en-US" sz="2557" b="1" dirty="0">
                <a:solidFill>
                  <a:srgbClr val="FFFFFF"/>
                </a:solidFill>
                <a:latin typeface="TT Tricks Stencil Bold"/>
                <a:ea typeface="TT Tricks Stencil Bold"/>
                <a:cs typeface="TT Tricks Stencil Bold"/>
                <a:sym typeface="TT Tricks Stencil Bold"/>
              </a:rPr>
              <a:t>   </a:t>
            </a:r>
            <a:r>
              <a:rPr lang="en-US" sz="2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"/>
                <a:sym typeface="TT Tricks Stencil Bold"/>
              </a:rPr>
              <a:t>Frozen Meals and Cookies Cakes</a:t>
            </a:r>
          </a:p>
          <a:p>
            <a:pPr marL="455353" lvl="1" indent="-227676" algn="l">
              <a:lnSpc>
                <a:spcPts val="2952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Still decent demand</a:t>
            </a:r>
          </a:p>
          <a:p>
            <a:pPr marL="455353" lvl="1" indent="-227676" algn="l">
              <a:lnSpc>
                <a:spcPts val="2952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But lowest profitability</a:t>
            </a:r>
          </a:p>
          <a:p>
            <a:pPr marL="455353" lvl="1" indent="-227676" algn="l">
              <a:lnSpc>
                <a:spcPts val="2952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Likely due to high costs, discounts, or low margins</a:t>
            </a:r>
          </a:p>
          <a:p>
            <a:pPr algn="l">
              <a:lnSpc>
                <a:spcPts val="2952"/>
              </a:lnSpc>
            </a:pPr>
            <a:endParaRPr lang="en-US" sz="2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l">
              <a:lnSpc>
                <a:spcPts val="2952"/>
              </a:lnSpc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  </a:t>
            </a:r>
            <a:r>
              <a:rPr lang="en-US" sz="2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"/>
                <a:sym typeface="TT Tricks Stencil Bold"/>
              </a:rPr>
              <a:t>  Data Quality Issue</a:t>
            </a:r>
          </a:p>
          <a:p>
            <a:pPr marL="455353" lvl="1" indent="-227676" algn="l">
              <a:lnSpc>
                <a:spcPts val="2952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Category labeled “Missing” has very high orders</a:t>
            </a:r>
          </a:p>
          <a:p>
            <a:pPr algn="l">
              <a:lnSpc>
                <a:spcPts val="3232"/>
              </a:lnSpc>
            </a:pPr>
            <a:endParaRPr lang="en-US" sz="210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  <a:p>
            <a:pPr algn="l">
              <a:lnSpc>
                <a:spcPts val="3232"/>
              </a:lnSpc>
            </a:pPr>
            <a:endParaRPr lang="en-US" sz="210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  <a:p>
            <a:pPr algn="l">
              <a:lnSpc>
                <a:spcPts val="3232"/>
              </a:lnSpc>
            </a:pPr>
            <a:endParaRPr lang="en-US" sz="210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7EB8F0-D316-BF49-A516-62890D0D8AFE}"/>
              </a:ext>
            </a:extLst>
          </p:cNvPr>
          <p:cNvSpPr txBox="1"/>
          <p:nvPr/>
        </p:nvSpPr>
        <p:spPr>
          <a:xfrm>
            <a:off x="9372600" y="5295900"/>
            <a:ext cx="8686800" cy="2444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303"/>
              </a:lnSpc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"/>
                <a:sym typeface="TT Tricks Stencil Bold"/>
              </a:rPr>
              <a:t>Business Interpretation</a:t>
            </a:r>
          </a:p>
          <a:p>
            <a:pPr marL="555696" lvl="1" indent="-277848">
              <a:lnSpc>
                <a:spcPts val="360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Your business is strong in demand generation</a:t>
            </a:r>
          </a:p>
          <a:p>
            <a:pPr marL="555696" lvl="1" indent="-277848">
              <a:lnSpc>
                <a:spcPts val="360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But profitability is not optimized across categories</a:t>
            </a:r>
          </a:p>
          <a:p>
            <a:pPr marL="555696" lvl="1" indent="-277848">
              <a:lnSpc>
                <a:spcPts val="3603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Some products are being sold a lot but not making enough money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446517" y="309100"/>
            <a:ext cx="7154683" cy="925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72B724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Recommendations</a:t>
            </a:r>
            <a:endParaRPr lang="en-US" sz="6000" b="1" dirty="0">
              <a:solidFill>
                <a:srgbClr val="72B724"/>
              </a:solidFill>
              <a:latin typeface="Cambria" panose="02040503050406030204" pitchFamily="18" charset="0"/>
              <a:ea typeface="Cambria" panose="02040503050406030204" pitchFamily="18" charset="0"/>
              <a:cs typeface="TT Mussels Stencil Bold"/>
              <a:sym typeface="TT Mussels Stencil Bold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811524" y="98107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836245" y="2094872"/>
            <a:ext cx="9222155" cy="7561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TT Tricks Stencil"/>
                <a:ea typeface="TT Tricks Stencil"/>
                <a:cs typeface="TT Tricks Stencil"/>
                <a:sym typeface="TT Tricks Stencil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1. </a:t>
            </a: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"/>
                <a:sym typeface="TT Tricks Stencil Bold"/>
              </a:rPr>
              <a:t>Optimize High-Demand, Low-Profit Categories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Review pricing strategy for: Chips &amp; pretzels, Tea and Packaged cheese</a:t>
            </a:r>
          </a:p>
          <a:p>
            <a:pPr marL="410209" lvl="1" indent="-205105" algn="l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Reduce unnecessary discounts or supplier costs</a:t>
            </a:r>
          </a:p>
          <a:p>
            <a:pPr marL="410209" lvl="1" indent="-205105" algn="l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endParaRPr lang="en-US" sz="2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 2. </a:t>
            </a: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"/>
                <a:sym typeface="TT Tricks Stencil Bold"/>
              </a:rPr>
              <a:t>Focus on High-Profit Opportunities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 Double down on categories where:</a:t>
            </a:r>
          </a:p>
          <a:p>
            <a:pPr marL="410209" lvl="1" indent="-205105" algn="l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Demand is strong</a:t>
            </a:r>
          </a:p>
          <a:p>
            <a:pPr marL="410209" lvl="1" indent="-205105" algn="l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Profit is still relatively higher (left side of chart) and promote these products more</a:t>
            </a:r>
          </a:p>
          <a:p>
            <a:pPr marL="410209" lvl="1" indent="-205105" algn="l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endParaRPr lang="en-US" sz="2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3. </a:t>
            </a: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"/>
                <a:sym typeface="TT Tricks Stencil Bold"/>
              </a:rPr>
              <a:t>Re-evaluate Low-Profit Items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  For Frozen Meals &amp; Cookies Cakes:</a:t>
            </a:r>
          </a:p>
          <a:p>
            <a:pPr marL="410209" lvl="1" indent="-205105" algn="l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Consider: Price adjustments, Supplier renegotiation, Or reducing promotion focus</a:t>
            </a:r>
          </a:p>
          <a:p>
            <a:pPr marL="410209" lvl="1" indent="-205105" algn="l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endParaRPr lang="en-US" sz="2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   4. </a:t>
            </a: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"/>
                <a:sym typeface="TT Tricks Stencil Bold"/>
              </a:rPr>
              <a:t>Bundle Strategy</a:t>
            </a:r>
          </a:p>
          <a:p>
            <a:pPr marL="410209" lvl="1" indent="-205105" algn="l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Bundle: apply this on High-demand low-profit items- This Increases overall basket profitability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204C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65303" y="1943100"/>
            <a:ext cx="9874097" cy="5905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6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Revenue Analysis</a:t>
            </a:r>
          </a:p>
          <a:p>
            <a:pPr algn="l">
              <a:lnSpc>
                <a:spcPts val="3219"/>
              </a:lnSpc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●Green Tea: Highest revenue at $8,823, making it the top performer financially.</a:t>
            </a:r>
          </a:p>
          <a:p>
            <a:pPr algn="l">
              <a:lnSpc>
                <a:spcPts val="3219"/>
              </a:lnSpc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●Family Size Lasagna with Meat and Sauce: Very close behind at $8,209, showing strong revenue generation.</a:t>
            </a:r>
          </a:p>
          <a:p>
            <a:pPr algn="l">
              <a:lnSpc>
                <a:spcPts val="3219"/>
              </a:lnSpc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●Carrots and Celery Stick: Lower at $1,651, but still significant compared to the others.</a:t>
            </a:r>
          </a:p>
          <a:p>
            <a:pPr algn="l">
              <a:lnSpc>
                <a:spcPts val="3219"/>
              </a:lnSpc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From a revenue perspective, Green Tea and Family Size Lasagna are nearly tied, with Green Tea slightly ahead.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Sales Volume (Quantity) Analysis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●All three products show similar quantities sold (0.3K units).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●This suggests that differences in revenue are driven by price per unit, not by volume.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</a:t>
            </a:r>
            <a:endParaRPr lang="en-US" sz="22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1292" y="155203"/>
            <a:ext cx="10814908" cy="765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90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72B724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Best and Worst Performing Products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196AC0-043C-B361-C5BE-4802BC053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44200" y="1232302"/>
            <a:ext cx="7476476" cy="8516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62117" y="178830"/>
            <a:ext cx="8569003" cy="957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03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Best Product Cont,n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0722" y="1381063"/>
            <a:ext cx="7722296" cy="539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3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Insights</a:t>
            </a:r>
          </a:p>
          <a:p>
            <a:pPr algn="l">
              <a:lnSpc>
                <a:spcPts val="3779"/>
              </a:lnSpc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●Green Tea: Best overall performer — high revenue with average volume.</a:t>
            </a:r>
          </a:p>
          <a:p>
            <a:pPr algn="l">
              <a:lnSpc>
                <a:spcPts val="3779"/>
              </a:lnSpc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●Family Size Lasagna with Meat and sauce: Strong competitor, nearly equal in revenue, also with average volume.</a:t>
            </a:r>
          </a:p>
          <a:p>
            <a:pPr>
              <a:lnSpc>
                <a:spcPts val="377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 Carrots and Celery Stick slight difference in sales volume but lower revenue, likely due to lower pricing or smaller margins.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endParaRPr lang="en-US" sz="26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26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040846" y="2047674"/>
            <a:ext cx="7872256" cy="5541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 Italics"/>
                <a:sym typeface="Canva Sans Bold Italics"/>
              </a:rPr>
              <a:t>Recommendations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 1. </a:t>
            </a:r>
            <a:r>
              <a:rPr lang="en-US" sz="24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Leverage High-Revenue Product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●Promote Green Tea more (ads, bundles)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●Consider: Upselling and Premium positioning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2</a:t>
            </a:r>
            <a:r>
              <a:rPr lang="en-US" sz="24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 Improve Lower Revenue Products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●For Lasagna &amp; Family Size: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-Review pricing strategy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-Reduce unnecessary discounts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-Consider bundling to increase value per order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endParaRPr lang="en-US" sz="26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6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40801" y="7355224"/>
            <a:ext cx="7872256" cy="192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Strategic Takeaway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If the goal is maximizing revenue, focus on Green Tea and Family Size Lasagna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26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74424" y="342900"/>
            <a:ext cx="8355376" cy="755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3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Worst Performing Products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7138" y="1414289"/>
            <a:ext cx="9142662" cy="8416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Key Insights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 1. Organic Sweet Apple Chicken Sauce (Top among bottom)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●Revenue: $1,100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●Quantity: 25units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</a:t>
            </a:r>
            <a:r>
              <a:rPr lang="en-US" sz="28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Insight: 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This is the best of the worst — relatively decent demand but still low revenue overall.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2. Lean Gourmet Teriyaki Chicken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●Revenue: $756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●Quantity: 27units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</a:t>
            </a: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I</a:t>
            </a:r>
            <a:r>
              <a:rPr lang="en-US" sz="28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nsight: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●Higher demand than Organic Sweet Apple Chicken Sauce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●Over 34% lower revenue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This strongly suggests: Lower pricing, heavy discounts, or lower perceived value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3.  Dandelion Green Juice(lowest performer)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●Revenue: $525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●Quantity: 21 units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  </a:t>
            </a:r>
            <a:r>
              <a:rPr lang="en-US" sz="28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Insight:</a:t>
            </a: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Lowest demand and revenue, this is s true underperformer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24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24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B0F7FD-0C50-711C-3BD6-B895498B4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20760" y="1219171"/>
            <a:ext cx="7467240" cy="88655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74587" y="190891"/>
            <a:ext cx="7647317" cy="955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Worst Products Cont’n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2117" y="2043199"/>
            <a:ext cx="5566574" cy="3299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Potential Product Issues</a:t>
            </a:r>
          </a:p>
          <a:p>
            <a:pPr algn="l">
              <a:lnSpc>
                <a:spcPts val="3779"/>
              </a:lnSpc>
            </a:pPr>
            <a:r>
              <a:rPr lang="en-US" sz="24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Low demand may indicate: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.Poor customer preference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.High price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.Wrong placement/category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.Lack of promotion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009272" y="1382260"/>
            <a:ext cx="8853557" cy="8544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Recommendations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FFFFFF"/>
                </a:solidFill>
                <a:latin typeface="TT Tricks Stencil"/>
                <a:ea typeface="TT Tricks Stencil"/>
                <a:cs typeface="TT Tricks Stencil"/>
                <a:sym typeface="TT Tricks Stencil"/>
              </a:rPr>
              <a:t>  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1. </a:t>
            </a:r>
            <a:r>
              <a:rPr lang="en-US" sz="24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Fix Pricing Strategy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.Review Dandelion Green Juice pricing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.If price is too low → increase slightly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.If discounted heavily → reduce discounts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 2. </a:t>
            </a:r>
            <a:r>
              <a:rPr lang="en-US" sz="24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Boost Visibility &amp; Demand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For all three products: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</a:t>
            </a:r>
            <a:r>
              <a:rPr lang="en-US" sz="24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Improve: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.Product placement (app/store visibility)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.Promotions (bundles, discounts)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.Recommendations (“frequently bought together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 3.</a:t>
            </a:r>
            <a:r>
              <a:rPr lang="en-US" sz="24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 Bundle Strategy (high impact)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●Pair low performers with top sellers: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 </a:t>
            </a:r>
            <a:r>
              <a:rPr lang="en-US" sz="24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Example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Organic  Sweet Apple Chicken Sauage + Dandelion Greens Juice as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luch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bundles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This increases basket size and exposure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24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24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49403" y="309100"/>
            <a:ext cx="7126858" cy="1015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4800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"/>
                <a:sym typeface="TT Mussels Stencil"/>
              </a:rPr>
              <a:t>Busiest Time of day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295" y="1563358"/>
            <a:ext cx="8496705" cy="4013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48"/>
              </a:lnSpc>
              <a:spcBef>
                <a:spcPct val="0"/>
              </a:spcBef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Early Morning is Very Quiet (0:00 – 6:00)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.Orders are almost non-existent overnight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.Lowest activity happens between 2 AM – 5 AM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 You don’t need many staff during these hours</a:t>
            </a:r>
          </a:p>
          <a:p>
            <a:pPr algn="l">
              <a:lnSpc>
                <a:spcPts val="3948"/>
              </a:lnSpc>
              <a:spcBef>
                <a:spcPct val="0"/>
              </a:spcBef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Sharp Morning Surge (7:00 – 10:00)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·Orders spike rapidly starting around 7–8 AM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· Peak begins forming around 9–10 AM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 This suggests morning demand (likely breakfast / early shopping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D22B43-50CF-706A-412F-882361F33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44200" y="1181105"/>
            <a:ext cx="7543800" cy="91058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1699363" y="299575"/>
            <a:ext cx="7332168" cy="1005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Continuation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6271" y="3097572"/>
            <a:ext cx="8120137" cy="580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Peak Demand Window (10:00 – 15:00)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· Highest order volume occurs between: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o  10 AM – 2 PM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· This is your busiest period overall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 Critical time to: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· Increase staff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· Ensure inventory availability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· Optimize delivery/logistics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Gradual Afternoon Stability (15:00 – 17:00)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· Orders remain relatively high but start to plateau slightly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Still important, but less intense than peak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556628" y="1346693"/>
            <a:ext cx="8528745" cy="442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4"/>
              </a:lnSpc>
              <a:spcBef>
                <a:spcPct val="0"/>
              </a:spcBef>
            </a:pPr>
            <a:r>
              <a:rPr lang="en-US" sz="2724" dirty="0">
                <a:solidFill>
                  <a:srgbClr val="FFFFFF"/>
                </a:solidFill>
                <a:latin typeface="TT Tricks Stencil"/>
                <a:ea typeface="TT Tricks Stencil"/>
                <a:cs typeface="TT Tricks Stencil"/>
                <a:sym typeface="TT Tricks Stencil"/>
              </a:rPr>
              <a:t>  </a:t>
            </a: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Evening Decline (18:00 – 22:00)</a:t>
            </a:r>
          </a:p>
          <a:p>
            <a:pPr algn="l">
              <a:lnSpc>
                <a:spcPts val="339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.Orders drop steadily after 6 PM</a:t>
            </a:r>
          </a:p>
          <a:p>
            <a:pPr algn="l">
              <a:lnSpc>
                <a:spcPts val="339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 By 9–10 PM, activity is much lower</a:t>
            </a:r>
          </a:p>
          <a:p>
            <a:pPr algn="l">
              <a:lnSpc>
                <a:spcPts val="339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  Reduce staffing gradually after 6 PM</a:t>
            </a:r>
          </a:p>
          <a:p>
            <a:pPr algn="l">
              <a:lnSpc>
                <a:spcPts val="3390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l">
              <a:lnSpc>
                <a:spcPts val="3814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</a:t>
            </a: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Operations Optimization</a:t>
            </a:r>
          </a:p>
          <a:p>
            <a:pPr algn="l">
              <a:lnSpc>
                <a:spcPts val="339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.Schedule deliveries and logistics heavily during peak</a:t>
            </a:r>
          </a:p>
          <a:p>
            <a:pPr algn="l">
              <a:lnSpc>
                <a:spcPts val="339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.Prepare inventory before morning surge</a:t>
            </a:r>
          </a:p>
          <a:p>
            <a:pPr algn="l">
              <a:lnSpc>
                <a:spcPts val="339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.Consider promotions during:</a:t>
            </a:r>
          </a:p>
          <a:p>
            <a:pPr algn="ctr">
              <a:lnSpc>
                <a:spcPts val="339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.Low hours (early morning or late evening) to boost demand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578087-C963-1CF1-29E3-3CCC8E5FF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59255" y="5862643"/>
            <a:ext cx="8528745" cy="44243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11914" y="328150"/>
            <a:ext cx="11213486" cy="774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7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Daily Sales Trends by Total Quantity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9607" y="1288536"/>
            <a:ext cx="8344393" cy="5898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Key Insights</a:t>
            </a:r>
          </a:p>
          <a:p>
            <a:pPr algn="l">
              <a:lnSpc>
                <a:spcPts val="3801"/>
              </a:lnSpc>
              <a:spcBef>
                <a:spcPct val="0"/>
              </a:spcBef>
            </a:pPr>
            <a:r>
              <a:rPr lang="en-US" sz="24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 </a:t>
            </a:r>
            <a:r>
              <a:rPr lang="en-US" sz="28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Friday Peak</a:t>
            </a: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: 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Customers place the most orders at the end of the week, suggesting strong demand before the weekend.</a:t>
            </a:r>
          </a:p>
          <a:p>
            <a:pPr algn="l">
              <a:lnSpc>
                <a:spcPts val="3801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</a:t>
            </a:r>
            <a:r>
              <a:rPr lang="en-US" sz="28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Early Week Weakness</a:t>
            </a: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: 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Tuesday consistently shows the lowest order volume, indicating reduced customer activity at the start of the week.</a:t>
            </a:r>
          </a:p>
          <a:p>
            <a:pPr algn="l">
              <a:lnSpc>
                <a:spcPts val="3801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</a:t>
            </a:r>
            <a:r>
              <a:rPr lang="en-US" sz="28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Stable Decline</a:t>
            </a:r>
            <a:r>
              <a:rPr lang="en-US" sz="24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: 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The drop is gradual, not sudden, which points to predictable customer behavior rather than random fluctuations.</a:t>
            </a:r>
          </a:p>
          <a:p>
            <a:pPr algn="l">
              <a:lnSpc>
                <a:spcPts val="3801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</a:t>
            </a:r>
            <a:r>
              <a:rPr lang="en-US" sz="28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Revenue Alignment: 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Since both revenue and quantity show similar downward trends, the issue is demand-driven, not just pricing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5338E5-7B57-94A8-B9B2-7520576DF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63200" y="1181100"/>
            <a:ext cx="7877233" cy="88391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76240" y="299575"/>
            <a:ext cx="6399766" cy="110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Continuation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9607" y="1700924"/>
            <a:ext cx="8530068" cy="546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Recommendations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1.</a:t>
            </a:r>
            <a:r>
              <a:rPr lang="en-US" sz="28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Leverage Fridays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a. Launch promotions, new product drops, or marketing campaigns on Fridays to maximize peak demand.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b. Consider offering “weekend bundles” or limited-time deals to capture momentum.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2.</a:t>
            </a:r>
            <a:r>
              <a:rPr lang="en-US" sz="28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Boost Early Week Sales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Introduce Monday/Tuesday incentives (discounts, loyalty points, free delivery) to counter the slump.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a. Target marketing campaigns (emails, ads) early in the week to re-engage customers.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303168" y="1436229"/>
            <a:ext cx="6684914" cy="627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0"/>
              </a:lnSpc>
              <a:spcBef>
                <a:spcPct val="0"/>
              </a:spcBef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Customer Behavior Analysis</a:t>
            </a:r>
          </a:p>
          <a:p>
            <a:pPr algn="l">
              <a:lnSpc>
                <a:spcPts val="3410"/>
              </a:lnSpc>
              <a:spcBef>
                <a:spcPct val="0"/>
              </a:spcBef>
            </a:pPr>
            <a:r>
              <a:rPr lang="en-US" sz="24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 Italics"/>
              </a:rPr>
              <a:t> </a:t>
            </a:r>
            <a:r>
              <a:rPr lang="en-US" sz="24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Italics"/>
                <a:sym typeface="TT Tricks Stencil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nvestigate why customers order less early in    the week — is it lifestyle-driven, product  availability, or marketing gaps?</a:t>
            </a:r>
          </a:p>
          <a:p>
            <a:pPr algn="l">
              <a:lnSpc>
                <a:spcPts val="341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Segment customers by order day to tailor offers (e.g., “Tuesday Saver Deals” for price-sensitive buyers).</a:t>
            </a:r>
          </a:p>
          <a:p>
            <a:pPr algn="l">
              <a:lnSpc>
                <a:spcPts val="3830"/>
              </a:lnSpc>
              <a:spcBef>
                <a:spcPct val="0"/>
              </a:spcBef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Strategic Takeaway</a:t>
            </a:r>
          </a:p>
          <a:p>
            <a:pPr algn="l">
              <a:lnSpc>
                <a:spcPts val="341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Your business has predictable weekly demand cycles: strong on Fridays, weakest on Tuesdays. By capitalizing on peak days and stimulating demand on slow days, you can smooth out the curve and increase overall performance.</a:t>
            </a:r>
          </a:p>
          <a:p>
            <a:pPr algn="l">
              <a:lnSpc>
                <a:spcPts val="3410"/>
              </a:lnSpc>
              <a:spcBef>
                <a:spcPct val="0"/>
              </a:spcBef>
            </a:pPr>
            <a:endParaRPr lang="en-US" sz="2436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882351" y="95789"/>
            <a:ext cx="6538095" cy="1684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SQL ANALYSIS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4800" b="1" dirty="0">
              <a:solidFill>
                <a:srgbClr val="668B2A"/>
              </a:solidFill>
              <a:latin typeface="TT Mussels Stencil Bold"/>
              <a:ea typeface="TT Mussels Stencil Bold"/>
              <a:cs typeface="TT Mussels Stencil Bold"/>
              <a:sym typeface="TT Mussels Stencil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62116" y="1916337"/>
            <a:ext cx="7467483" cy="1226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6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Top 5 Department by Revenue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endParaRPr lang="en-US" sz="3499" b="1" i="1" dirty="0">
              <a:solidFill>
                <a:srgbClr val="FFFFFF"/>
              </a:solidFill>
              <a:latin typeface="TT Tricks Stencil Bold Italics"/>
              <a:ea typeface="TT Tricks Stencil Bold Italics"/>
              <a:cs typeface="TT Tricks Stencil Bold Italics"/>
              <a:sym typeface="TT Tricks Stencil Bold Itali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786572" y="1489150"/>
            <a:ext cx="7238999" cy="500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endParaRPr dirty="0"/>
          </a:p>
          <a:p>
            <a:pPr algn="l">
              <a:lnSpc>
                <a:spcPts val="4619"/>
              </a:lnSpc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Possible Reasons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Strongest category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: Personal care leads with revenue slightly above 20M, showing it’s the most profitable segment.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Weakest category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: Frozen products generate the lowest revenue, almost half of personal care.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Overall pattern: The line shows a steady downward slope, suggesting either declining demand or weaker positioning in categories beyond personal care.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8BDCDB9-F32D-D219-60CA-833915EAA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32823" y="6743700"/>
            <a:ext cx="3516577" cy="35433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4379646-BB71-4EF8-A4DE-AAF79C4ED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49400" y="6743700"/>
            <a:ext cx="4038600" cy="3543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12FCEB-9AFF-32ED-73D7-EAA4308D6C0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801" y="2628900"/>
            <a:ext cx="9144000" cy="7391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11995" y="467071"/>
            <a:ext cx="8128711" cy="155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Top 5 Dept by Revenue (contd.)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7782" y="2354399"/>
            <a:ext cx="8432018" cy="6446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Possible Reasons continue </a:t>
            </a:r>
            <a:endParaRPr lang="en-US" sz="2800" b="1" i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 Bold Italics"/>
              <a:sym typeface="TT Tricks Stencil Bold Italics"/>
            </a:endParaRP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8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Consumer preference: 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Customers may prioritize     essentials like personal care over discretionary categories like frozen foods.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8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Distribution challenges: 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Frozen items often require specialized logistics, which could limit reach and sales.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8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Competition:</a:t>
            </a: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Snacks and beverages are highly competitive markets, possibly eroding revenue.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8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Marketing focus: 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Personal care may have stronger branding or promotional support compared to other categories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34326" y="1757158"/>
            <a:ext cx="6916265" cy="550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Recommendations: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1. </a:t>
            </a:r>
            <a:r>
              <a:rPr lang="en-US" sz="28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Leverage strong categories: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.Expand personal care offerings since it’s already performing well.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.Bundle personal care with lower-performing categories to cross-sell.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2. </a:t>
            </a:r>
            <a:r>
              <a:rPr lang="en-US" sz="28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Optimize distribution: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.Improve cold-chain logistics for frozen products.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.Ensure wider availability of beverages and pantry items in high-demand regions</a:t>
            </a:r>
            <a:r>
              <a:rPr lang="en-US" sz="2499" dirty="0">
                <a:solidFill>
                  <a:srgbClr val="FFFFFF"/>
                </a:solidFill>
                <a:latin typeface="TT Tricks Stencil"/>
                <a:ea typeface="TT Tricks Stencil"/>
                <a:cs typeface="TT Tricks Stencil"/>
                <a:sym typeface="TT Tricks Stencil"/>
              </a:rPr>
              <a:t>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24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62117" y="427354"/>
            <a:ext cx="9807327" cy="734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Top 3 Products Sold During Weekends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2117" y="1663434"/>
            <a:ext cx="9259379" cy="6384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Insights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1.</a:t>
            </a:r>
            <a:r>
              <a:rPr lang="en-US" sz="28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Balanced performance:</a:t>
            </a: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All three products—Sparkling Blood Orange Soda, English Hydro Cucumber, and Low-Moisture Part-Skim Shredded Mozzarella Cheese—sold roughly the same number of units (around 110).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2.</a:t>
            </a:r>
            <a:r>
              <a:rPr lang="en-US" sz="28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No standout leader</a:t>
            </a:r>
            <a:r>
              <a:rPr lang="en-US" sz="24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: 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None of the products significantly outperformed the others, suggesting demand is evenly distributed.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3.</a:t>
            </a:r>
            <a:r>
              <a:rPr lang="en-US" sz="28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Stable demand:</a:t>
            </a: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The similarity in sales volume indicates consistent consumer interest across different product categories (beverages, produce, dairy)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6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48D5B8-043C-2935-62B3-BB0225816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10800" y="1161594"/>
            <a:ext cx="8045109" cy="404122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43208" y="309100"/>
            <a:ext cx="7191191" cy="982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9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Recommendations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1619268"/>
            <a:ext cx="11451068" cy="8553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8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1.</a:t>
            </a: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Bundle strategy: </a:t>
            </a: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Create combo deals (e.g., pairing soda with cheese or cucumber) to encourage cross-category purchases.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8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2.</a:t>
            </a: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Targeted marketing</a:t>
            </a:r>
            <a:r>
              <a:rPr lang="en-US" sz="28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: </a:t>
            </a: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Since all products perform equally, test different campaigns (health-focused for cucumber, indulgence for cheese, lifestyle for soda) to see which resonates most.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8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3.</a:t>
            </a: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Expand distribution: </a:t>
            </a: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Ensure all three products are equally available in high-traffic locations, since none is lagging.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8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4.</a:t>
            </a: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Upsell opportunities:</a:t>
            </a:r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</a:t>
            </a: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Introduce premium versions (e.g., artisanal cheese, organic cucumber, craft soda) to capture higher margins.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8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5.</a:t>
            </a: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Monitor trends</a:t>
            </a:r>
            <a:r>
              <a:rPr lang="en-US" sz="28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:</a:t>
            </a:r>
            <a:r>
              <a:rPr lang="en-US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Keep tracking sales over time—equal performance now may shift if consumer preferences change seasonally.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9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811524" y="1181100"/>
            <a:ext cx="7476476" cy="4811396"/>
          </a:xfrm>
          <a:custGeom>
            <a:avLst/>
            <a:gdLst/>
            <a:ahLst/>
            <a:cxnLst/>
            <a:rect l="l" t="t" r="r" b="b"/>
            <a:pathLst>
              <a:path w="8702454" h="5141099">
                <a:moveTo>
                  <a:pt x="0" y="0"/>
                </a:moveTo>
                <a:lnTo>
                  <a:pt x="8702454" y="0"/>
                </a:lnTo>
                <a:lnTo>
                  <a:pt x="8702454" y="5141099"/>
                </a:lnTo>
                <a:lnTo>
                  <a:pt x="0" y="5141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 l="-33666" r="-8020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68393" y="548433"/>
            <a:ext cx="9751367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Profit Generated from Bread and Alcoholic Products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8393" y="2816093"/>
            <a:ext cx="8283639" cy="4382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 Italics"/>
                <a:sym typeface="Canva Sans Bold Italics"/>
              </a:rPr>
              <a:t>Alcoholic Products Dominate Sales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/>
                <a:sym typeface="Canva Sans"/>
              </a:rPr>
              <a:t>.Alcoholic products account for slightly more than half (55%)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/>
                <a:sym typeface="Canva Sans"/>
              </a:rPr>
              <a:t>.Bread products make up 45%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/>
                <a:sym typeface="Canva Sans"/>
              </a:rPr>
              <a:t> Alcohol is the leading category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 Italics"/>
                <a:sym typeface="Canva Sans Bold Italics"/>
              </a:rPr>
              <a:t>Bread Still Significant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/>
                <a:sym typeface="Canva Sans"/>
              </a:rPr>
              <a:t>· Bread products are not far behind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/>
                <a:sym typeface="Canva Sans"/>
              </a:rPr>
              <a:t>·A 10% gap means: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/>
                <a:sym typeface="Canva Sans"/>
              </a:rPr>
              <a:t> Bread is still a core revenue driver, not weak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C16510-F14A-890B-CD72-C9D68574C4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788672" y="6097270"/>
            <a:ext cx="3499328" cy="41897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0DAF4B-04E6-A2F6-EC55-2589E2EDDC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26272" y="6096041"/>
            <a:ext cx="3962400" cy="41897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19200" y="270520"/>
            <a:ext cx="6477000" cy="12346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19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Contd.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9406" y="2095500"/>
            <a:ext cx="9425194" cy="5313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Revenue Concentration Risk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●Heavy reliance on alcoholic products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If demand drops (regulations, supply issues), revenue could be affected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TT Tricks Stencil"/>
              <a:sym typeface="TT Tricks Stencil"/>
            </a:endParaRP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Growth Opportunity in Bread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●Since the gap is small: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 You can easily close it with: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●Promotions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●Bundles (e.g., bread + spreads)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"/>
                <a:sym typeface="TT Tricks Stencil"/>
              </a:rPr>
              <a:t>●Discounts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 dirty="0">
              <a:solidFill>
                <a:srgbClr val="FFFFFF"/>
              </a:solidFill>
              <a:latin typeface="TT Tricks Stencil"/>
              <a:ea typeface="TT Tricks Stencil"/>
              <a:cs typeface="TT Tricks Stencil"/>
              <a:sym typeface="TT Tricks Stenci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811524" y="1409700"/>
            <a:ext cx="7134805" cy="2896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 Italics"/>
                <a:sym typeface="Canva Sans Bold Italics"/>
              </a:rPr>
              <a:t>Cross-Selling Opportunity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/>
                <a:sym typeface="Canva Sans"/>
              </a:rPr>
              <a:t>●Combine both categories: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400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Italics"/>
                <a:sym typeface="Canva Sans Italics"/>
              </a:rPr>
              <a:t> Example: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/>
                <a:sym typeface="Canva Sans"/>
              </a:rPr>
              <a:t>●“Wine + Bread” bundles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/>
                <a:sym typeface="Canva Sans"/>
              </a:rPr>
              <a:t>●“Dinner packages”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456CA3-90E1-4871-651A-4773AAE81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788672" y="6097270"/>
            <a:ext cx="3499328" cy="41897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11CBD9-C729-1BB9-4DD2-ED26BBE76A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26272" y="6096041"/>
            <a:ext cx="3962400" cy="41897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56823" y="299575"/>
            <a:ext cx="6519490" cy="1030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6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Products Not Sold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0862" y="2084736"/>
            <a:ext cx="9530455" cy="1726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400" b="1" i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T Tricks Stencil Bold Italics"/>
                <a:sym typeface="TT Tricks Stencil Bold Italics"/>
              </a:rPr>
              <a:t>All Products were sold</a:t>
            </a:r>
          </a:p>
          <a:p>
            <a:pPr algn="l">
              <a:lnSpc>
                <a:spcPts val="6859"/>
              </a:lnSpc>
              <a:spcBef>
                <a:spcPct val="0"/>
              </a:spcBef>
            </a:pPr>
            <a:endParaRPr lang="en-US" sz="4899" b="1" i="1" dirty="0">
              <a:solidFill>
                <a:srgbClr val="FFFFFF"/>
              </a:solidFill>
              <a:latin typeface="TT Tricks Stencil Bold Italics"/>
              <a:ea typeface="TT Tricks Stencil Bold Italics"/>
              <a:cs typeface="TT Tricks Stencil Bold Italics"/>
              <a:sym typeface="TT Tricks Stencil Bold Itali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11524" y="1076325"/>
            <a:ext cx="7476476" cy="0"/>
          </a:xfrm>
          <a:prstGeom prst="line">
            <a:avLst/>
          </a:prstGeom>
          <a:ln w="95250" cap="flat">
            <a:solidFill>
              <a:srgbClr val="72B7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432925"/>
            <a:ext cx="540722" cy="9421150"/>
            <a:chOff x="0" y="0"/>
            <a:chExt cx="142412" cy="2481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412" cy="2481290"/>
            </a:xfrm>
            <a:custGeom>
              <a:avLst/>
              <a:gdLst/>
              <a:ahLst/>
              <a:cxnLst/>
              <a:rect l="l" t="t" r="r" b="b"/>
              <a:pathLst>
                <a:path w="142412" h="2481290">
                  <a:moveTo>
                    <a:pt x="71206" y="0"/>
                  </a:moveTo>
                  <a:lnTo>
                    <a:pt x="71206" y="0"/>
                  </a:lnTo>
                  <a:cubicBezTo>
                    <a:pt x="90091" y="0"/>
                    <a:pt x="108203" y="7502"/>
                    <a:pt x="121557" y="20856"/>
                  </a:cubicBezTo>
                  <a:cubicBezTo>
                    <a:pt x="134910" y="34210"/>
                    <a:pt x="142412" y="52321"/>
                    <a:pt x="142412" y="71206"/>
                  </a:cubicBezTo>
                  <a:lnTo>
                    <a:pt x="142412" y="2410084"/>
                  </a:lnTo>
                  <a:cubicBezTo>
                    <a:pt x="142412" y="2449410"/>
                    <a:pt x="110532" y="2481290"/>
                    <a:pt x="71206" y="2481290"/>
                  </a:cubicBezTo>
                  <a:lnTo>
                    <a:pt x="71206" y="2481290"/>
                  </a:lnTo>
                  <a:cubicBezTo>
                    <a:pt x="31880" y="2481290"/>
                    <a:pt x="0" y="2449410"/>
                    <a:pt x="0" y="2410084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668B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412" cy="2519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895600" y="3695700"/>
            <a:ext cx="9525000" cy="35301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98"/>
              </a:lnSpc>
              <a:spcBef>
                <a:spcPct val="0"/>
              </a:spcBef>
            </a:pPr>
            <a:r>
              <a:rPr lang="en-US" sz="9999" b="1" dirty="0">
                <a:solidFill>
                  <a:srgbClr val="668B2A"/>
                </a:solidFill>
                <a:latin typeface="Cambria" panose="02040503050406030204" pitchFamily="18" charset="0"/>
                <a:ea typeface="Cambria" panose="02040503050406030204" pitchFamily="18" charset="0"/>
                <a:cs typeface="TT Mussels Stencil Bold"/>
                <a:sym typeface="TT Mussels Stencil Bold"/>
              </a:rPr>
              <a:t>Thank you</a:t>
            </a:r>
          </a:p>
          <a:p>
            <a:pPr algn="l">
              <a:lnSpc>
                <a:spcPts val="14418"/>
              </a:lnSpc>
              <a:spcBef>
                <a:spcPct val="0"/>
              </a:spcBef>
            </a:pPr>
            <a:endParaRPr lang="en-US" sz="9999" b="1" dirty="0">
              <a:solidFill>
                <a:srgbClr val="668B2A"/>
              </a:solidFill>
              <a:latin typeface="TT Mussels Stencil Bold"/>
              <a:ea typeface="TT Mussels Stencil Bold"/>
              <a:cs typeface="TT Mussels Stencil Bold"/>
              <a:sym typeface="TT Mussels Stencil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2166</Words>
  <Application>Microsoft Office PowerPoint</Application>
  <PresentationFormat>Custom</PresentationFormat>
  <Paragraphs>262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TT Tricks Stencil Bold</vt:lpstr>
      <vt:lpstr>TT Tricks Stencil</vt:lpstr>
      <vt:lpstr>Calibri</vt:lpstr>
      <vt:lpstr>Canva Sans</vt:lpstr>
      <vt:lpstr>TT Mussels Stencil</vt:lpstr>
      <vt:lpstr>Arial</vt:lpstr>
      <vt:lpstr>TT Tricks Stencil Bold Italics</vt:lpstr>
      <vt:lpstr>TT Mussels Stencil Bold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Instacart</dc:title>
  <dc:creator>Bimbola Adebayo</dc:creator>
  <cp:lastModifiedBy>Bimbola Adebayo</cp:lastModifiedBy>
  <cp:revision>9</cp:revision>
  <dcterms:created xsi:type="dcterms:W3CDTF">2006-08-16T00:00:00Z</dcterms:created>
  <dcterms:modified xsi:type="dcterms:W3CDTF">2026-03-21T23:10:53Z</dcterms:modified>
  <dc:identifier>DAHEe-L_x1Q</dc:identifier>
</cp:coreProperties>
</file>